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image" Target="../media/image1.pn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1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 userDrawn="1"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200" y="1252855"/>
            <a:ext cx="105156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52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  <a:endParaRPr sz="6000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904875" y="180975"/>
            <a:ext cx="105156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91540" y="4946650"/>
            <a:ext cx="5776595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421061" y="4299150"/>
            <a:ext cx="519363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 userDrawn="1">
            <p:custDataLst>
              <p:tags r:id="rId13"/>
            </p:custDataLst>
          </p:nvPr>
        </p:nvSpPr>
        <p:spPr>
          <a:xfrm>
            <a:off x="838198" y="4335150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995680"/>
            <a:ext cx="4690745" cy="2914015"/>
          </a:xfrm>
        </p:spPr>
        <p:txBody>
          <a:bodyPr wrap="square" anchor="b">
            <a:normAutofit/>
          </a:bodyPr>
          <a:lstStyle>
            <a:lvl1pPr algn="ctr">
              <a:defRPr sz="58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 userDrawn="1">
            <p:custDataLst>
              <p:tags r:id="rId3"/>
            </p:custDataLst>
          </p:nvPr>
        </p:nvSpPr>
        <p:spPr>
          <a:xfrm rot="13818227">
            <a:off x="10844016" y="394665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985001" y="3981423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 userDrawn="1">
            <p:custDataLst>
              <p:tags r:id="rId6"/>
            </p:custDataLst>
          </p:nvPr>
        </p:nvSpPr>
        <p:spPr>
          <a:xfrm rot="3018227">
            <a:off x="977129" y="58074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96000" y="3274695"/>
            <a:ext cx="10800000" cy="2646680"/>
          </a:xfrm>
        </p:spPr>
        <p:txBody>
          <a:bodyPr wrap="square" anchor="t" anchorCtr="0">
            <a:normAutofit/>
          </a:bodyPr>
          <a:lstStyle>
            <a:lvl1pPr algn="ctr">
              <a:defRPr sz="6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4000" y="307340"/>
            <a:ext cx="9144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5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798810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 userDrawn="1"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835" y="212725"/>
            <a:ext cx="10514965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892175" y="5288280"/>
            <a:ext cx="73152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1443990" y="3674110"/>
            <a:ext cx="9910445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 userDrawn="1">
            <p:custDataLst>
              <p:tags r:id="rId12"/>
            </p:custDataLst>
          </p:nvPr>
        </p:nvSpPr>
        <p:spPr>
          <a:xfrm>
            <a:off x="838833" y="3603245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image" Target="../media/image2.png"/><Relationship Id="rId12" Type="http://schemas.openxmlformats.org/officeDocument/2006/relationships/tags" Target="../tags/tag7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algn="ctr"/>
            <a:endParaRPr lang="zh-CN" alt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8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tags" Target="../tags/tag8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8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31445" y="2018665"/>
            <a:ext cx="12060555" cy="3618230"/>
          </a:xfrm>
        </p:spPr>
        <p:txBody>
          <a:bodyPr anchor="ctr" anchorCtr="0">
            <a:normAutofit/>
          </a:bodyPr>
          <a:lstStyle/>
          <a:p>
            <a:r>
              <a:rPr lang="ru-RU"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Руководитель практики от организации: Шешина Юлия Олеговна</a:t>
            </a:r>
            <a:br>
              <a:rPr lang="ru-RU" sz="2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ru-RU"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Руководитель практики от колледжа: Калинин Арсений Олегович</a:t>
            </a:r>
            <a:br>
              <a:rPr lang="ru-RU" sz="2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ru-RU"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Год: 2026г.</a:t>
            </a:r>
            <a:endParaRPr lang="ru-RU" sz="2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35" y="232410"/>
            <a:ext cx="12191365" cy="2776220"/>
          </a:xfrm>
        </p:spPr>
        <p:txBody>
          <a:bodyPr>
            <a:noAutofit/>
          </a:bodyPr>
          <a:lstStyle/>
          <a:p>
            <a:pPr algn="ctr"/>
            <a:r>
              <a:rPr lang="ru-RU" sz="5000" b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Сопровождение и обслуживание программного обеспечения компьютерных систем</a:t>
            </a:r>
            <a:endParaRPr lang="ru-RU" sz="5000" b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33350" y="5229860"/>
            <a:ext cx="781558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sz="4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Производственная практика</a:t>
            </a:r>
            <a:br>
              <a:rPr 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ru-RU" sz="25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Яхонтов Егор Денисович</a:t>
            </a:r>
            <a:endParaRPr lang="ru-RU" altLang="en-US" sz="2500" b="1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5788660" y="522986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5400" b="1" u="sng" dirty="0">
                <a:effectLst/>
                <a:latin typeface="Times New Roman" panose="02020603050405020304" charset="0"/>
                <a:ea typeface="Times New Roman" panose="02020603050405020304" charset="0"/>
                <a:sym typeface="+mn-ea"/>
              </a:rPr>
              <a:t>ПМ. </a:t>
            </a:r>
            <a:r>
              <a:rPr lang="ru-RU" sz="5400" b="1" u="sng" dirty="0">
                <a:latin typeface="Times New Roman" panose="02020603050405020304" charset="0"/>
                <a:ea typeface="Times New Roman" panose="02020603050405020304" charset="0"/>
                <a:sym typeface="+mn-ea"/>
              </a:rPr>
              <a:t>04</a:t>
            </a:r>
            <a:r>
              <a:rPr lang="ru-RU" sz="5400" b="1" u="sng" dirty="0">
                <a:effectLst/>
                <a:latin typeface="Times New Roman" panose="02020603050405020304" charset="0"/>
                <a:ea typeface="Times New Roman" panose="02020603050405020304" charset="0"/>
                <a:sym typeface="+mn-ea"/>
              </a:rPr>
              <a:t> </a:t>
            </a:r>
            <a:endParaRPr lang="ru-RU" altLang="en-US" sz="5400" b="1" u="sng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effectLst/>
              <a:latin typeface="Times New Roman" panose="02020603050405020304" charset="0"/>
              <a:ea typeface="Times New Roman" panose="020206030504050203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80085" y="-991235"/>
            <a:ext cx="10831830" cy="2914015"/>
          </a:xfrm>
        </p:spPr>
        <p:txBody>
          <a:bodyPr>
            <a:normAutofit/>
          </a:bodyPr>
          <a:lstStyle/>
          <a:p>
            <a:r>
              <a:rPr lang="ru-RU" sz="55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Характеристика объекта практики</a:t>
            </a:r>
            <a:endParaRPr lang="ru-RU" sz="55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02235" y="2029460"/>
            <a:ext cx="8079105" cy="4523105"/>
          </a:xfrm>
          <a:prstGeom prst="rect">
            <a:avLst/>
          </a:prstGeom>
        </p:spPr>
        <p:txBody>
          <a:bodyPr>
            <a:noAutofit/>
          </a:bodyPr>
          <a:p>
            <a:pPr algn="l" defTabSz="266700">
              <a:lnSpc>
                <a:spcPct val="114000"/>
              </a:lnSpc>
            </a:pPr>
            <a:r>
              <a:rPr sz="1600" b="1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Полное наименование:</a:t>
            </a:r>
            <a:r>
              <a:rPr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 Кировское областное государственное общеобразовательное бюджетное учреждение «Средняя школа пгт Вахруши Слободского района»</a:t>
            </a:r>
            <a:endParaRPr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  <a:p>
            <a:pPr algn="l" defTabSz="266700">
              <a:lnSpc>
                <a:spcPct val="114000"/>
              </a:lnSpc>
            </a:pPr>
            <a:r>
              <a:rPr sz="1600" b="1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Сокращённое наименование:</a:t>
            </a:r>
            <a:r>
              <a:rPr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 КОГОБУ СШ пгт Вахруши</a:t>
            </a:r>
            <a:endParaRPr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  <a:p>
            <a:pPr algn="l" defTabSz="266700">
              <a:lnSpc>
                <a:spcPct val="114000"/>
              </a:lnSpc>
            </a:pPr>
            <a:r>
              <a:rPr sz="1600" b="1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Юридический адрес:</a:t>
            </a:r>
            <a:r>
              <a:rPr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 612110, Кировская область, Слободской район, посёлок городского типа Вахруши, улица Ленина, дом 4</a:t>
            </a:r>
            <a:endParaRPr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  <a:p>
            <a:pPr algn="l" defTabSz="266700">
              <a:lnSpc>
                <a:spcPct val="114000"/>
              </a:lnSpc>
            </a:pPr>
            <a:r>
              <a:rPr sz="1600" b="1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Руководитель:</a:t>
            </a:r>
            <a:r>
              <a:rPr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 Семакина Ксения Александровна (директор)</a:t>
            </a:r>
            <a:endParaRPr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  <a:p>
            <a:pPr algn="l" defTabSz="266700"/>
            <a:r>
              <a:rPr sz="1600" b="1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Основной вид деятельности:</a:t>
            </a:r>
            <a:r>
              <a:rPr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 Реализация образовательных программ начального, основного и среднего общего образования</a:t>
            </a:r>
            <a:br>
              <a:rPr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</a:br>
            <a:r>
              <a:rPr lang="en-US" altLang="en-US" sz="1600" b="1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Состав программного и технического обеспечения, имеющегося на предприятии:</a:t>
            </a:r>
            <a:r>
              <a:rPr lang="en-US" altLang="en-US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 </a:t>
            </a:r>
            <a:endParaRPr lang="en-US" altLang="en-US"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  <a:p>
            <a:pPr marL="285750" indent="-285750" algn="l" defTabSz="26670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Операционная система: </a:t>
            </a:r>
            <a:r>
              <a:rPr lang="en-US" altLang="ru-RU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Windows 10 Pro. </a:t>
            </a:r>
            <a:endParaRPr lang="en-US" altLang="ru-RU"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  <a:p>
            <a:pPr marL="285750" indent="-285750" algn="l" defTabSz="26670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1С:Предприятие</a:t>
            </a:r>
            <a:endParaRPr lang="en-US" altLang="en-US"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  <a:p>
            <a:pPr marL="285750" indent="-285750" algn="l" defTabSz="26670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Антивирус </a:t>
            </a:r>
            <a:r>
              <a:rPr lang="en-US" altLang="ru-RU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ClamAV </a:t>
            </a:r>
            <a:endParaRPr lang="en-US" altLang="ru-RU"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  <a:p>
            <a:pPr marL="285750" indent="-285750" algn="l" defTabSz="26670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Дополнительное ПО: </a:t>
            </a:r>
            <a:r>
              <a:rPr lang="en-US" altLang="ru-RU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Total Commander, IrfanView, Firefox.</a:t>
            </a:r>
            <a:endParaRPr lang="en-US" altLang="ru-RU"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  <a:p>
            <a:pPr marL="285750" indent="-285750" algn="l" defTabSz="26670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Техническое обеспечение: компьютеры (</a:t>
            </a:r>
            <a:r>
              <a:rPr lang="en-US" altLang="ru-RU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Intel Core i3/i5, 8 </a:t>
            </a:r>
            <a:r>
              <a:rPr lang="en-US" altLang="en-US" sz="1600">
                <a:solidFill>
                  <a:srgbClr val="000000"/>
                </a:solidFill>
                <a:latin typeface="Times New Roman CYR"/>
                <a:ea typeface="Times New Roman" panose="02020603050405020304"/>
              </a:rPr>
              <a:t>ГБ ОЗУ), принтеры. </a:t>
            </a:r>
            <a:endParaRPr lang="en-US" altLang="en-US"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  <a:p>
            <a:pPr algn="l" defTabSz="266700"/>
            <a:endParaRPr lang="en-US" altLang="en-US" sz="1600">
              <a:solidFill>
                <a:srgbClr val="000000"/>
              </a:solidFill>
              <a:latin typeface="Times New Roman CYR"/>
              <a:ea typeface="Times New Roman" panose="02020603050405020304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8535035" y="1748155"/>
            <a:ext cx="2636520" cy="37147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14000"/>
              </a:lnSpc>
            </a:pPr>
            <a:r>
              <a:rPr sz="16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Times New Roman CYR"/>
                <a:ea typeface="Times New Roman" panose="02020603050405020304"/>
              </a:rPr>
              <a:t>Описание рабочего места</a:t>
            </a:r>
            <a:endParaRPr sz="1600" b="1">
              <a:solidFill>
                <a:srgbClr val="000000"/>
              </a:solidFill>
              <a:highlight>
                <a:srgbClr val="000000">
                  <a:alpha val="0"/>
                </a:srgbClr>
              </a:highlight>
              <a:latin typeface="Times New Roman CYR"/>
              <a:ea typeface="Times New Roman" panose="02020603050405020304"/>
            </a:endParaRPr>
          </a:p>
        </p:txBody>
      </p:sp>
      <p:graphicFrame>
        <p:nvGraphicFramePr>
          <p:cNvPr id="13" name="Таблица 12"/>
          <p:cNvGraphicFramePr/>
          <p:nvPr>
            <p:custDataLst>
              <p:tags r:id="rId2"/>
            </p:custDataLst>
          </p:nvPr>
        </p:nvGraphicFramePr>
        <p:xfrm>
          <a:off x="8181340" y="2180590"/>
          <a:ext cx="3517900" cy="3310890"/>
        </p:xfrm>
        <a:graphic>
          <a:graphicData uri="http://schemas.openxmlformats.org/drawingml/2006/table">
            <a:tbl>
              <a:tblPr/>
              <a:tblGrid>
                <a:gridCol w="1758950"/>
                <a:gridCol w="1758950"/>
              </a:tblGrid>
              <a:tr h="55181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Наименование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Характеристики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181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Системный блок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Процессор: Intel Core i3, ОЗУ: 8 ГБ, HDD: 500 ГБ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181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Монитор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19" (1280x1024), 1 шт.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181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Клавиатура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USB, стандартная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181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Мышь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USB, оптическая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181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Сетевое подключение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Times New Roman CYR"/>
                          <a:ea typeface="Times New Roman" panose="02020603050405020304"/>
                        </a:rPr>
                        <a:t>Локальная сеть школы, доступ в интернет</a:t>
                      </a:r>
                      <a:endParaRPr sz="140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Times New Roman CYR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0945" y="182880"/>
            <a:ext cx="10800000" cy="2646680"/>
          </a:xfrm>
        </p:spPr>
        <p:txBody>
          <a:bodyPr/>
          <a:lstStyle/>
          <a:p>
            <a:r>
              <a:rPr lang="ru-RU" sz="55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Установить предложенное программное обеспечение</a:t>
            </a:r>
            <a:endParaRPr lang="ru-RU" sz="55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157730"/>
            <a:ext cx="3691255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865" y="2157730"/>
            <a:ext cx="1309370" cy="3965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Текстовое поле 4"/>
          <p:cNvSpPr txBox="1"/>
          <p:nvPr/>
        </p:nvSpPr>
        <p:spPr>
          <a:xfrm>
            <a:off x="351155" y="5477510"/>
            <a:ext cx="4151630" cy="645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Установка 1С:Предприятие </a:t>
            </a:r>
            <a:endParaRPr lang="ru-RU" altLang="en-US" sz="2000" b="1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5513" y="2157934"/>
            <a:ext cx="3120778" cy="2446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820" y="3905885"/>
            <a:ext cx="3811270" cy="2290445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5092700" y="626999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20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Добавление роли </a:t>
            </a:r>
            <a:r>
              <a:rPr lang="en-US" sz="20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Active Directory</a:t>
            </a:r>
            <a:endParaRPr lang="en-US" altLang="en-US" sz="20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8155940" y="3537585"/>
            <a:ext cx="44589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Установка антивируса </a:t>
            </a:r>
            <a:r>
              <a:rPr lang="en-US" dirty="0" err="1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ClamAV</a:t>
            </a:r>
            <a:endParaRPr lang="en-US" altLang="en-US" b="1" dirty="0" err="1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172085"/>
            <a:ext cx="12191365" cy="1960245"/>
          </a:xfrm>
        </p:spPr>
        <p:txBody>
          <a:bodyPr/>
          <a:lstStyle/>
          <a:p>
            <a:pPr algn="ctr"/>
            <a:r>
              <a:rPr lang="ru-RU" sz="55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Установить предложенное программное обеспечение</a:t>
            </a:r>
            <a:endParaRPr lang="en-US" sz="550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2472055"/>
            <a:ext cx="4090670" cy="1914525"/>
          </a:xfrm>
          <a:prstGeom prst="rect">
            <a:avLst/>
          </a:prstGeom>
        </p:spPr>
      </p:pic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675" y="2200910"/>
            <a:ext cx="3295650" cy="2456815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3048000" y="614235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Установка 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Worpress 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и</a:t>
            </a:r>
            <a:r>
              <a:rPr lang="en-US" altLang="ru-RU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Moodle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на 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Laragon</a:t>
            </a:r>
            <a:endParaRPr lang="en-US" altLang="en-US" sz="2400" b="1" dirty="0" err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415" y="2200910"/>
            <a:ext cx="3933825" cy="2252345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6340" y="3996690"/>
            <a:ext cx="2951480" cy="10610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577805"/>
            <a:ext cx="10800000" cy="720000"/>
          </a:xfrm>
        </p:spPr>
        <p:txBody>
          <a:bodyPr>
            <a:noAutofit/>
          </a:bodyPr>
          <a:p>
            <a:pPr algn="ctr"/>
            <a:r>
              <a:rPr lang="ru-RU" sz="55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Установить предложенное программное обеспечение</a:t>
            </a:r>
            <a:endParaRPr lang="ru-RU" altLang="en-US" sz="55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680" y="2566670"/>
            <a:ext cx="4245610" cy="191008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rcRect l="1074" t="2222"/>
          <a:stretch>
            <a:fillRect/>
          </a:stretch>
        </p:blipFill>
        <p:spPr>
          <a:xfrm>
            <a:off x="926612" y="2021103"/>
            <a:ext cx="3283064" cy="26736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Текстовое поле 6"/>
          <p:cNvSpPr txBox="1"/>
          <p:nvPr/>
        </p:nvSpPr>
        <p:spPr>
          <a:xfrm>
            <a:off x="2757805" y="5065395"/>
            <a:ext cx="64274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28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Установка веб-сервера </a:t>
            </a:r>
            <a:r>
              <a:rPr lang="en-US" sz="2800" dirty="0" err="1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Laragon</a:t>
            </a:r>
            <a:r>
              <a:rPr lang="en-US" sz="28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ru-RU" sz="28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ru-RU" altLang="en-US" sz="28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-635" y="287020"/>
            <a:ext cx="12193270" cy="3559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ru-RU" sz="5500" b="1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Установить предложенное программное обеспечение</a:t>
            </a:r>
            <a:endParaRPr lang="ru-RU" altLang="en-US" sz="5500" b="1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25" y="2864485"/>
            <a:ext cx="3656965" cy="1325880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3576320" y="506349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IrfanView</a:t>
            </a:r>
            <a:endParaRPr lang="en-US" altLang="en-US" sz="2000" b="1" dirty="0" err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729740" y="5063490"/>
            <a:ext cx="12071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Firefox</a:t>
            </a:r>
            <a:endParaRPr lang="en-US" altLang="en-US" sz="2000" b="1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9149080" y="5063490"/>
            <a:ext cx="26562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Total Commander</a:t>
            </a:r>
            <a:endParaRPr lang="en-US" altLang="en-US" sz="2000" b="1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110" y="2529840"/>
            <a:ext cx="3869055" cy="1995170"/>
          </a:xfrm>
          <a:prstGeom prst="rect">
            <a:avLst/>
          </a:prstGeom>
        </p:spPr>
      </p:pic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2411095"/>
            <a:ext cx="3049905" cy="25488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Текстовое поле 4"/>
          <p:cNvSpPr txBox="1"/>
          <p:nvPr/>
        </p:nvSpPr>
        <p:spPr>
          <a:xfrm>
            <a:off x="0" y="195580"/>
            <a:ext cx="12191365" cy="2251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ru-RU" sz="55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Обеспечить доступ различным категориям пользователей</a:t>
            </a:r>
            <a:endParaRPr lang="ru-RU" altLang="en-US" sz="55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219710" y="244729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Для разграничения доступа в системе была создана пара учётных записей:</a:t>
            </a:r>
            <a:endParaRPr lang="ru-RU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admin</a:t>
            </a:r>
            <a:r>
              <a:rPr 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– обладает полными правами в системе.</a:t>
            </a:r>
            <a:endParaRPr lang="ru-RU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Petr</a:t>
            </a:r>
            <a:r>
              <a:rPr 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– обычный пользователь с ограниченными правами.</a:t>
            </a:r>
            <a:endParaRPr lang="ru-RU" altLang="en-US" b="1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" y="3897313"/>
            <a:ext cx="4204970" cy="18395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Текстовое поле 7"/>
          <p:cNvSpPr txBox="1"/>
          <p:nvPr/>
        </p:nvSpPr>
        <p:spPr>
          <a:xfrm>
            <a:off x="6521450" y="3359150"/>
            <a:ext cx="4780280" cy="981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ru-RU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Настройка прав доступа пользователя Администратор для папки с программой</a:t>
            </a:r>
            <a:endParaRPr lang="ru-RU" altLang="en-US" b="1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9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915" y="4100195"/>
            <a:ext cx="5608320" cy="90424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Текстовое поле 4"/>
          <p:cNvSpPr txBox="1"/>
          <p:nvPr/>
        </p:nvSpPr>
        <p:spPr>
          <a:xfrm>
            <a:off x="0" y="245110"/>
            <a:ext cx="12192635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55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Найти ПО с открытым кодом и выполнить его сборку</a:t>
            </a:r>
            <a:endParaRPr lang="ru-RU" altLang="en-US" sz="55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Изображение 5"/>
          <p:cNvPicPr/>
          <p:nvPr/>
        </p:nvPicPr>
        <p:blipFill>
          <a:blip r:embed="rId1"/>
          <a:srcRect t="3603" r="729"/>
          <a:stretch>
            <a:fillRect/>
          </a:stretch>
        </p:blipFill>
        <p:spPr>
          <a:xfrm>
            <a:off x="517525" y="2326005"/>
            <a:ext cx="5511165" cy="3115310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6576695" y="2952750"/>
            <a:ext cx="4672330" cy="1501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Visual Studio </a:t>
            </a: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с проектом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Notepad++ </a:t>
            </a: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и собранная из исходного кода программа</a:t>
            </a:r>
            <a:r>
              <a:rPr lang="ru-RU" sz="2000" dirty="0">
                <a:sym typeface="+mn-ea"/>
              </a:rPr>
              <a:t> </a:t>
            </a:r>
            <a:endParaRPr lang="ru-RU" altLang="en-US" sz="2000" b="1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Текстовое поле 5"/>
          <p:cNvSpPr txBox="1"/>
          <p:nvPr/>
        </p:nvSpPr>
        <p:spPr>
          <a:xfrm>
            <a:off x="0" y="89535"/>
            <a:ext cx="12192000" cy="2630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55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Проконтролировать качество функционирования программного обеспечения</a:t>
            </a:r>
            <a:endParaRPr lang="ru-RU" altLang="en-US" sz="55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3123565"/>
            <a:ext cx="4961890" cy="1618615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5523230" y="2589530"/>
            <a:ext cx="6537325" cy="421449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900"/>
              </a:spcBef>
              <a:spcAft>
                <a:spcPts val="1200"/>
              </a:spcAft>
            </a:pPr>
            <a:r>
              <a:rPr sz="1400" b="0">
                <a:latin typeface="Times New Roman" panose="02020603050405020304" charset="0"/>
                <a:ea typeface="Google Sans"/>
                <a:cs typeface="Times New Roman" panose="02020603050405020304" charset="0"/>
              </a:rPr>
              <a:t>Проверка работоспособности и стабильности системы выполнялась с помощью встроенных инструментов ОС Windows и специализированных программных средств:</a:t>
            </a:r>
            <a:endParaRPr sz="1400" b="0">
              <a:latin typeface="Times New Roman" panose="02020603050405020304" charset="0"/>
              <a:ea typeface="Google Sans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400" b="0">
                <a:latin typeface="Times New Roman" panose="02020603050405020304" charset="0"/>
                <a:ea typeface="Google Sans"/>
                <a:cs typeface="Times New Roman" panose="02020603050405020304" charset="0"/>
              </a:rPr>
              <a:t>Диспетчер задач Windows — подтвердил стабильное функционирование системы; зависшие процессы или аномальное потребление ресурсов отсутствуют.</a:t>
            </a:r>
            <a:endParaRPr sz="1400" b="0">
              <a:latin typeface="Times New Roman" panose="02020603050405020304" charset="0"/>
              <a:ea typeface="Google Sans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400" b="0">
                <a:latin typeface="Times New Roman" panose="02020603050405020304" charset="0"/>
                <a:ea typeface="Google Sans"/>
                <a:cs typeface="Times New Roman" panose="02020603050405020304" charset="0"/>
              </a:rPr>
              <a:t>Средство проверки системных файлов (SFC) — выполнило сканирование и подтвердило целостность всех ключевых компонентов ОС.</a:t>
            </a:r>
            <a:endParaRPr sz="1400" b="0">
              <a:latin typeface="Times New Roman" panose="02020603050405020304" charset="0"/>
              <a:ea typeface="Google Sans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400" b="0">
                <a:latin typeface="Times New Roman" panose="02020603050405020304" charset="0"/>
                <a:ea typeface="Google Sans"/>
                <a:cs typeface="Times New Roman" panose="02020603050405020304" charset="0"/>
              </a:rPr>
              <a:t>Журнал событий Windows — анализ логов не выявил критических ошибок или аппаратных сбоев, связанных с работой установленного ПО.</a:t>
            </a:r>
            <a:endParaRPr sz="1400" b="0">
              <a:latin typeface="Times New Roman" panose="02020603050405020304" charset="0"/>
              <a:ea typeface="Google Sans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400" b="0">
                <a:latin typeface="Times New Roman" panose="02020603050405020304" charset="0"/>
                <a:ea typeface="Google Sans"/>
                <a:cs typeface="Times New Roman" panose="02020603050405020304" charset="0"/>
              </a:rPr>
              <a:t>Консоль управления Active Directory — верифицировала корректность структуры каталога, включая созданные учетные записи пользователей, группы и организационные единицы (OU).</a:t>
            </a:r>
            <a:endParaRPr sz="1400" b="0">
              <a:latin typeface="Times New Roman" panose="02020603050405020304" charset="0"/>
              <a:ea typeface="Google Sans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400" b="0">
                <a:latin typeface="Times New Roman" panose="02020603050405020304" charset="0"/>
                <a:ea typeface="Google Sans"/>
                <a:cs typeface="Times New Roman" panose="02020603050405020304" charset="0"/>
              </a:rPr>
              <a:t>Итоги внедрения:</a:t>
            </a:r>
            <a:endParaRPr sz="1400" b="0">
              <a:latin typeface="Times New Roman" panose="02020603050405020304" charset="0"/>
              <a:ea typeface="Google Sans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400" b="0">
                <a:latin typeface="Times New Roman" panose="02020603050405020304" charset="0"/>
                <a:ea typeface="Google Sans"/>
                <a:cs typeface="Times New Roman" panose="02020603050405020304" charset="0"/>
              </a:rPr>
              <a:t>Совместимость: Полностью обеспечена корректная интеграция и совместная работа новых компонентов с ранее развернутым программным обеспечением.</a:t>
            </a:r>
            <a:endParaRPr sz="1400" b="0">
              <a:latin typeface="Times New Roman" panose="02020603050405020304" charset="0"/>
              <a:ea typeface="Google Sans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400" b="0">
                <a:latin typeface="Times New Roman" panose="02020603050405020304" charset="0"/>
                <a:ea typeface="Google Sans"/>
                <a:cs typeface="Times New Roman" panose="02020603050405020304" charset="0"/>
              </a:rPr>
              <a:t>Безопасность: Защита программного комплекса реализована в строгом соответствии с установленными техническими требованиями.</a:t>
            </a:r>
            <a:endParaRPr sz="1400" b="0">
              <a:latin typeface="Times New Roman" panose="02020603050405020304" charset="0"/>
              <a:ea typeface="Google Sans"/>
              <a:cs typeface="Times New Roman" panose="020206030504050203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466090" y="5067935"/>
            <a:ext cx="45764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Просмотр процессов в диспетчере задач</a:t>
            </a:r>
            <a:endParaRPr lang="ru-RU" altLang="en-US" sz="2000" b="1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-635" y="139700"/>
            <a:ext cx="12192635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55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Предложить варианты модификации программного обеспечения</a:t>
            </a:r>
            <a:endParaRPr lang="ru-RU" altLang="en-US" sz="55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13665" y="1923415"/>
            <a:ext cx="11895455" cy="4672965"/>
          </a:xfrm>
          <a:prstGeom prst="rect">
            <a:avLst/>
          </a:prstGeom>
        </p:spPr>
        <p:txBody>
          <a:bodyPr>
            <a:noAutofit/>
          </a:bodyPr>
          <a:p>
            <a:pPr marL="285750" indent="-285750" algn="just" defTabSz="2667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Для электронного журнала: Разработать модуль автоматического оповещения родителей через SMS и электронную почту о пропусках уроков, полученных оценках и предстоящих родительских собраниях. Это повысит информированность родителей и сократит нагрузку на классных руководителей.</a:t>
            </a:r>
            <a:endParaRPr sz="140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marL="285750" indent="-285750" algn="just" defTabSz="2667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Для веб-сервера школьного сайта: Настроить резервное копирование базы данных и файлов сайта в облачное хранилище (например, Яндекс.Диск или Google Drive) по расписанию. Это обеспечит сохранность школьной документации и новостной ленты при сбоях оборудования.</a:t>
            </a:r>
            <a:endParaRPr sz="140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marL="342900" indent="-342900" algn="just" defTabSz="2667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Для антивирусной защиты: Внедрить централизованное управление антивирусом через панель администратора с возможностью удалённой установки обновлений и проверки всех компьютеров школьной сети (включая компьютерные классы и учительские). Это упростит контроль безопасности на десятках учебных ПК.</a:t>
            </a:r>
            <a:endParaRPr sz="140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marL="342900" indent="-342900" algn="just" defTabSz="2667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Для системы контроля версий: Организовать Git-репозиторий для хранения конфигураций электронного журнала, скриптов автоматического резервного копирования и шаблонов отчётов. Это позволит отслеживать изменения и быстро восстанавливать работоспособность системы в случае сбоя.</a:t>
            </a:r>
            <a:endParaRPr sz="140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marL="342900" indent="-342900" algn="just" defTabSz="2667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Для доступа к школьной ИС: Разработать мобильное приложение для родителей и учащихся (Android/iOS) с упрощённым интерфейсом для просмотра оценок, домашних заданий и расписания. Это повысит удобство использования системы вне школы.</a:t>
            </a:r>
            <a:endParaRPr sz="140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marL="342900" indent="-342900" algn="just" defTabSz="2667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Для обучения сотрудников: Создать видеоуроки и инструкции по работе с электронным журналом для учителей, а также памятки для родителей по использованию мобильного приложения. Это снизит количество обращений в техническую поддержку.</a:t>
            </a:r>
            <a:endParaRPr sz="140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marL="342900" indent="-342900" algn="just" defTabSz="2667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Для автоматизации расписания: Разработать модуль автоматической генерации расписания уроков на основе нагрузки учителей и доступных кабинетов с возможностью ручной корректировки. Это сократит время завуча на составление расписания и минимизирует конфликты (один учитель не может вести два урока одновременно, один кабинет не может использоваться двумя классами).</a:t>
            </a:r>
            <a:endParaRPr sz="140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marL="342900" indent="-342900" defTabSz="2667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140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0" y="375285"/>
            <a:ext cx="12192000" cy="937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sz="55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Заключение</a:t>
            </a:r>
            <a:endParaRPr lang="ru-RU" altLang="en-US" sz="55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0" y="1370330"/>
            <a:ext cx="12192635" cy="3797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В ходе производственной практики были полностью выполнены поставленные задачи:</a:t>
            </a:r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Установлено и настроено необходимое программное обеспечение (</a:t>
            </a:r>
            <a:r>
              <a:rPr lang="ru-RU"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Moodle</a:t>
            </a: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ru-RU"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WordPress</a:t>
            </a: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1С:Предприятие, </a:t>
            </a:r>
            <a:r>
              <a:rPr lang="ru-RU"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ClamAV</a:t>
            </a: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ru-RU"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Laragon</a:t>
            </a: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дополнительное ПО). </a:t>
            </a:r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Проведена сборка программы с открытым кодом (Notepad++ из исходников). </a:t>
            </a:r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Выполнена установка роли Active Directory. </a:t>
            </a:r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Обеспечено разграничение доступа для различных категорий пользователей путём настройки прав файловой системы и создания учётных записей. </a:t>
            </a:r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Реализована защита программного обеспечения. </a:t>
            </a:r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Выполнено тестирование работоспособности и совместимости программного обеспечения. </a:t>
            </a:r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Предложены варианты модификации программного обеспечения</a:t>
            </a:r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Написано руководство оператора для программы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IrfanView</a:t>
            </a: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ru-RU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Все результаты сохранены в системе контроля версий </a:t>
            </a:r>
            <a:r>
              <a:rPr lang="ru-RU" sz="20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Git</a:t>
            </a:r>
            <a:r>
              <a:rPr lang="ru-RU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ru-RU" altLang="en-US" sz="2000" b="1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71450" y="5225415"/>
            <a:ext cx="63722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Репозиторий с файлами практики </a:t>
            </a:r>
            <a:r>
              <a:rPr lang="en-US" altLang="ru-RU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https://github.com/egorikovapraktika/pmpmpm.git</a:t>
            </a:r>
            <a:r>
              <a:rPr lang="ru-RU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ru-RU" altLang="en-US" b="1" dirty="0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Изображение 1" descr="qr-co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950" y="4309745"/>
            <a:ext cx="2286000" cy="2286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7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90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1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title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7990_1*b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subtitle"/>
</p:tagLst>
</file>

<file path=ppt/tags/tag82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799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90"/>
  <p:tag name="KSO_WM_SLIDE_LAYOUT" val="a_b_f"/>
  <p:tag name="KSO_WM_SLIDE_LAYOUT_CNT" val="1_1_2"/>
</p:tagLst>
</file>

<file path=ppt/tags/tag8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7990_4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ontents "/>
</p:tagLst>
</file>

<file path=ppt/tags/tag84.xml><?xml version="1.0" encoding="utf-8"?>
<p:tagLst xmlns:p="http://schemas.openxmlformats.org/presentationml/2006/main">
  <p:tag name="TABLE_ENDDRAG_ORIGIN_RECT" val="277*260"/>
  <p:tag name="TABLE_ENDDRAG_RECT" val="644*171*277*260"/>
</p:tagLst>
</file>

<file path=ppt/tags/tag85.xml><?xml version="1.0" encoding="utf-8"?>
<p:tagLst xmlns:p="http://schemas.openxmlformats.org/presentationml/2006/main">
  <p:tag name="KSO_WM_SLIDE_ID" val="custom20237990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7990"/>
  <p:tag name="KSO_WM_SLIDE_LAYOUT" val="a_l"/>
  <p:tag name="KSO_WM_SLIDE_LAYOUT_CNT" val="1_1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7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title here"/>
</p:tagLst>
</file>

<file path=ppt/tags/tag87.xml><?xml version="1.0" encoding="utf-8"?>
<p:tagLst xmlns:p="http://schemas.openxmlformats.org/presentationml/2006/main">
  <p:tag name="KSO_WM_SPECIAL_SOURCE" val="bdnull"/>
  <p:tag name="KSO_WM_SLIDE_ID" val="custom2023799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7990"/>
  <p:tag name="KSO_WM_SLIDE_LAYOUT" val="a_e"/>
  <p:tag name="KSO_WM_SLIDE_LAYOUT_CNT" val="1_1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9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THANK YOU"/>
</p:tagLst>
</file>

<file path=ppt/tags/tag89.xml><?xml version="1.0" encoding="utf-8"?>
<p:tagLst xmlns:p="http://schemas.openxmlformats.org/presentationml/2006/main">
  <p:tag name="KSO_WM_SPECIAL_SOURCE" val="bdnull"/>
  <p:tag name="KSO_WM_SLIDE_ID" val="custom20237990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7990"/>
  <p:tag name="KSO_WM_SLIDE_LAYOUT" val="a_f"/>
  <p:tag name="KSO_WM_SLIDE_LAYOUT_CNT" val="1_2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7990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7990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7990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7990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37990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7990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37990"/>
</p:tagLst>
</file>

<file path=ppt/theme/theme1.xml><?xml version="1.0" encoding="utf-8"?>
<a:theme xmlns:a="http://schemas.openxmlformats.org/drawingml/2006/main" name="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5983</Words>
  <Application>WPS Presentation</Application>
  <PresentationFormat>Широкоэкранный</PresentationFormat>
  <Paragraphs>123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Times New Roman CYR</vt:lpstr>
      <vt:lpstr>Times New Roman</vt:lpstr>
      <vt:lpstr>Google Sans</vt:lpstr>
      <vt:lpstr>Segoe Print</vt:lpstr>
      <vt:lpstr>Arial</vt:lpstr>
      <vt:lpstr>Microsoft YaHei</vt:lpstr>
      <vt:lpstr>Arial Unicode MS</vt:lpstr>
      <vt:lpstr>Manrope ExtraBold</vt:lpstr>
      <vt:lpstr>Lato</vt:lpstr>
      <vt:lpstr>Calibri</vt:lpstr>
      <vt:lpstr>Office Theme</vt:lpstr>
      <vt:lpstr>Руководитель практики от организации: Шешина Юлия Олеговна Руководитель практики от колледжа: Калинин Арсений Олегович Год: 2026г.</vt:lpstr>
      <vt:lpstr>Характеристика объекта практики</vt:lpstr>
      <vt:lpstr>Установить предложенное программное обеспечение</vt:lpstr>
      <vt:lpstr>Установить предложенное программное обеспечение</vt:lpstr>
      <vt:lpstr>Установить предложенное программное обеспечение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Руководитель практики от организации: Шешина Юлия Олеговна Руководитель практики от колледжа: Калинин Арсений Олегович Год: 2026г.</dc:title>
  <dc:creator>User</dc:creator>
  <cp:lastModifiedBy>User</cp:lastModifiedBy>
  <cp:revision>2</cp:revision>
  <dcterms:created xsi:type="dcterms:W3CDTF">2026-06-15T07:45:00Z</dcterms:created>
  <dcterms:modified xsi:type="dcterms:W3CDTF">2026-06-15T08:05:49Z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1EAB0C48F8E7445B9915F65B5B9F44C3_11</vt:lpwstr>
  </property>
</Properties>
</file>